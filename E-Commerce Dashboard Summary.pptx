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4365277"/>
            <a:ext cx="5486400" cy="4143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468" y="2078384"/>
            <a:ext cx="3167062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10526" y="2668934"/>
            <a:ext cx="7570946" cy="591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b="1" sz="4050" i="0" u="none">
                <a:solidFill>
                  <a:srgbClr val="F8FAFC"/>
                </a:solidFill>
                <a:latin typeface="Poppins"/>
              </a:rPr>
              <a:t>E-Commerce Sales &amp; </a:t>
            </a:r>
            <a:r>
              <a:rPr b="1" sz="4050" i="0" u="none">
                <a:solidFill>
                  <a:srgbClr val="CBD5E1"/>
                </a:solidFill>
                <a:latin typeface="Poppins"/>
              </a:rPr>
              <a:t>Customer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1250" y="3450877"/>
            <a:ext cx="7429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Lato"/>
              </a:rPr>
              <a:t>Interactive Dashboard Performance Summary, Multidimensional Revenue Analysis, and Strategic Optimization Roadmap.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800" y="4565302"/>
            <a:ext cx="1695450" cy="214312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Lato"/>
              </a:rPr>
              <a:t>Executive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9250" y="4565302"/>
            <a:ext cx="1333500" cy="214312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Lato"/>
              </a:rPr>
              <a:t>Power BI Desktop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0" y="4565302"/>
            <a:ext cx="1695450" cy="214312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Lato"/>
              </a:rPr>
              <a:t>Sales &amp; CSAT Analytics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4603402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4603402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0" y="4603402"/>
            <a:ext cx="1619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6512"/>
            <a:ext cx="3530649" cy="2419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76512"/>
            <a:ext cx="3530649" cy="2419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76512"/>
            <a:ext cx="3530649" cy="2419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52737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519487"/>
            <a:ext cx="154019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Poppins SemiBold"/>
              </a:rPr>
              <a:t>Business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19537"/>
            <a:ext cx="3054399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Lato"/>
              </a:rPr>
              <a:t>Deliver actionable commercial intelligence across total revenue ($5.11M aggregate, $472.45K filtered cohort), order volumes, basket size ($1.02K AOV), fulfillment speed, and customer ratings.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852737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519487"/>
            <a:ext cx="193024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Poppins SemiBold"/>
              </a:rPr>
              <a:t>Tools &amp; Tech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919537"/>
            <a:ext cx="3054399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Lato"/>
              </a:rPr>
              <a:t>Built using </a:t>
            </a:r>
            <a:r>
              <a:rPr b="1" sz="1050" i="0" u="none">
                <a:solidFill>
                  <a:srgbClr val="CBD5E1"/>
                </a:solidFill>
                <a:latin typeface="Lato"/>
              </a:rPr>
              <a:t>Power BI Desktop</a:t>
            </a:r>
            <a:r>
              <a:rPr b="0" sz="1050" i="0" u="none">
                <a:solidFill>
                  <a:srgbClr val="CBD5E1"/>
                </a:solidFill>
                <a:latin typeface="Lato"/>
              </a:rPr>
              <a:t> with custom DAX data modeling, dynamic slicers for regional/category drilling, cross-filtering, and an executive dark-themed interface.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852737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519487"/>
            <a:ext cx="172021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Poppins SemiBold"/>
              </a:rPr>
              <a:t>Analytical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919537"/>
            <a:ext cx="3054399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Lato"/>
              </a:rPr>
              <a:t>Evaluates three core layers: macroeconomic revenue trends, category and regional performance distributions, and customer satisfaction correlations with logistics and payment modes.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" y="2976562"/>
            <a:ext cx="2476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2699" y="2976562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1949" y="2976562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5720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oppins SemiBold"/>
              </a:rPr>
              <a:t>Project Objectives &amp; Tech 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2751"/>
            <a:ext cx="4758183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583" y="1500187"/>
            <a:ext cx="594791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6530" y="2136576"/>
            <a:ext cx="10096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Lato"/>
              </a:rPr>
              <a:t>$472.45K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Cohort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2392" y="2136576"/>
            <a:ext cx="809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Lato"/>
              </a:rPr>
              <a:t>462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Total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8229" y="2136576"/>
            <a:ext cx="6762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Lato"/>
              </a:rPr>
              <a:t>$1.02K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Avg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984301"/>
            <a:ext cx="4758183" cy="827633"/>
          </a:xfrm>
          <a:prstGeom prst="roundRect">
            <a:avLst>
              <a:gd name="adj" fmla="val 9206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3098601"/>
            <a:ext cx="4491483" cy="5990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8FAFC"/>
                </a:solidFill>
                <a:latin typeface="Lato SemiBold"/>
              </a:rPr>
              <a:t>Consistent Revenue Generation:</a:t>
            </a:r>
            <a:r>
              <a:rPr b="0" sz="1050" i="0" u="none">
                <a:solidFill>
                  <a:srgbClr val="CBD5E1"/>
                </a:solidFill>
                <a:latin typeface="Lato"/>
              </a:rPr>
              <a:t> The filtered North/Electronics cohort records $472.45K across 462 orders, reflecting robust ticket size stability (~$1.02K AOV).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3802409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984301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2984301"/>
            <a:ext cx="38100" cy="827633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20158" y="2984301"/>
            <a:ext cx="9525" cy="8276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1500" y="3907184"/>
            <a:ext cx="4758183" cy="634305"/>
          </a:xfrm>
          <a:prstGeom prst="roundRect">
            <a:avLst>
              <a:gd name="adj" fmla="val 12013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850" y="4021484"/>
            <a:ext cx="4491483" cy="4057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8FAFC"/>
                </a:solidFill>
                <a:latin typeface="Lato SemiBold"/>
              </a:rPr>
              <a:t>Monthly Sales Stability:</a:t>
            </a:r>
            <a:r>
              <a:rPr b="0" sz="1050" i="0" u="none">
                <a:solidFill>
                  <a:srgbClr val="CBD5E1"/>
                </a:solidFill>
                <a:latin typeface="Lato"/>
              </a:rPr>
              <a:t> Multi-year trend lines indicate sustained baseline revenue performance across recurring seasonal purchase cycles.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4531965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3907184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3907184"/>
            <a:ext cx="38100" cy="63430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0158" y="3907184"/>
            <a:ext cx="9525" cy="6343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1500" y="4636740"/>
            <a:ext cx="4758183" cy="827633"/>
          </a:xfrm>
          <a:prstGeom prst="roundRect">
            <a:avLst>
              <a:gd name="adj" fmla="val 9206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4751040"/>
            <a:ext cx="4491483" cy="5990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8FAFC"/>
                </a:solidFill>
                <a:latin typeface="Lato SemiBold"/>
              </a:rPr>
              <a:t>CSAT Rating Baseline:</a:t>
            </a:r>
            <a:r>
              <a:rPr b="0" sz="1050" i="0" u="none">
                <a:solidFill>
                  <a:srgbClr val="CBD5E1"/>
                </a:solidFill>
                <a:latin typeface="Lato"/>
              </a:rPr>
              <a:t> Average satisfaction holds at 2.94 / 5.00, pinpointing immediate opportunities for post-purchase fulfillment improvements.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5454848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" y="4636740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" y="4636740"/>
            <a:ext cx="38100" cy="827633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0158" y="4636740"/>
            <a:ext cx="9525" cy="8276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108" y="1509712"/>
            <a:ext cx="5928866" cy="455295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71500" y="3802409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500" y="4531965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" y="5454848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" y="45720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oppins SemiBold"/>
              </a:rPr>
              <a:t>Sales Performance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16013"/>
            <a:ext cx="4758183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583" y="1500187"/>
            <a:ext cx="594791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0805" y="2039838"/>
            <a:ext cx="11811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Lato"/>
              </a:rPr>
              <a:t>Electronics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Leading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6667" y="2039838"/>
            <a:ext cx="10096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Lato"/>
              </a:rPr>
              <a:t>$472,450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North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1079" y="2039838"/>
            <a:ext cx="8191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Lato"/>
              </a:rPr>
              <a:t>4 Zones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East, N, S, 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887563"/>
            <a:ext cx="4758183" cy="827633"/>
          </a:xfrm>
          <a:prstGeom prst="roundRect">
            <a:avLst>
              <a:gd name="adj" fmla="val 9206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3001863"/>
            <a:ext cx="4491483" cy="5990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8FAFC"/>
                </a:solidFill>
                <a:latin typeface="Lato SemiBold"/>
              </a:rPr>
              <a:t>Electronics Dominance:</a:t>
            </a:r>
            <a:r>
              <a:rPr b="0" sz="1050" i="0" u="none">
                <a:solidFill>
                  <a:srgbClr val="CBD5E1"/>
                </a:solidFill>
                <a:latin typeface="Lato"/>
              </a:rPr>
              <a:t> Electronics serves as the premier gross merchandise value driver, commanding dominant market share across regions.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3705671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887563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2887563"/>
            <a:ext cx="38100" cy="827633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20158" y="2887563"/>
            <a:ext cx="9525" cy="8276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1500" y="3810446"/>
            <a:ext cx="4758183" cy="827633"/>
          </a:xfrm>
          <a:prstGeom prst="roundRect">
            <a:avLst>
              <a:gd name="adj" fmla="val 9206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850" y="3924746"/>
            <a:ext cx="4491483" cy="5990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8FAFC"/>
                </a:solidFill>
                <a:latin typeface="Lato SemiBold"/>
              </a:rPr>
              <a:t>Regional Market Footprint:</a:t>
            </a:r>
            <a:r>
              <a:rPr b="0" sz="1050" i="0" u="none">
                <a:solidFill>
                  <a:srgbClr val="CBD5E1"/>
                </a:solidFill>
                <a:latin typeface="Lato"/>
              </a:rPr>
              <a:t> Clear regional segmentation highlights the North market as a major revenue generator ($472.45K in top category alone).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4628554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3810446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3810446"/>
            <a:ext cx="38100" cy="827633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0158" y="3810446"/>
            <a:ext cx="9525" cy="8276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1500" y="4733329"/>
            <a:ext cx="4758183" cy="827633"/>
          </a:xfrm>
          <a:prstGeom prst="roundRect">
            <a:avLst>
              <a:gd name="adj" fmla="val 9206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4847629"/>
            <a:ext cx="4491483" cy="5990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8FAFC"/>
                </a:solidFill>
                <a:latin typeface="Lato SemiBold"/>
              </a:rPr>
              <a:t>Untapped Category Potential:</a:t>
            </a:r>
            <a:r>
              <a:rPr b="0" sz="1050" i="0" u="none">
                <a:solidFill>
                  <a:srgbClr val="CBD5E1"/>
                </a:solidFill>
                <a:latin typeface="Lato"/>
              </a:rPr>
              <a:t> Beauty, Clothing, and Home categories represent high-growth whitespace for targeted bundle offers and cross-merchandising.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5551437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" y="4733329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" y="4733329"/>
            <a:ext cx="38100" cy="827633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0158" y="4733329"/>
            <a:ext cx="9525" cy="8276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108" y="1509712"/>
            <a:ext cx="5928866" cy="455295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71500" y="3705671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500" y="4628554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" y="5551437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" y="45720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oppins SemiBold"/>
              </a:rPr>
              <a:t>Category &amp; Regional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16013"/>
            <a:ext cx="4758183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583" y="1500187"/>
            <a:ext cx="594791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9380" y="2039838"/>
            <a:ext cx="1066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Lato"/>
              </a:rPr>
              <a:t>5.94 Days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Avg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8092" y="2039838"/>
            <a:ext cx="7905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Lato"/>
              </a:rPr>
              <a:t>2.94 / 5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Avg CSAT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20579" y="2039838"/>
            <a:ext cx="9810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Lato"/>
              </a:rPr>
              <a:t>Card Pay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Top Channel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887563"/>
            <a:ext cx="4758183" cy="827633"/>
          </a:xfrm>
          <a:prstGeom prst="roundRect">
            <a:avLst>
              <a:gd name="adj" fmla="val 9206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3001863"/>
            <a:ext cx="4491483" cy="5990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8FAFC"/>
                </a:solidFill>
                <a:latin typeface="Lato SemiBold"/>
              </a:rPr>
              <a:t>No Linear Delivery Correlation:</a:t>
            </a:r>
            <a:r>
              <a:rPr b="0" sz="1050" i="0" u="none">
                <a:solidFill>
                  <a:srgbClr val="CBD5E1"/>
                </a:solidFill>
                <a:latin typeface="Lato"/>
              </a:rPr>
              <a:t> Scatter plot distribution proves customer ratings (1-5) are evenly dispersed across 1 to 10 delivery days, revealing speed is not the sole CSAT driver.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3705671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887563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2887563"/>
            <a:ext cx="38100" cy="827633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20158" y="2887563"/>
            <a:ext cx="9525" cy="8276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1500" y="3810446"/>
            <a:ext cx="4758183" cy="827633"/>
          </a:xfrm>
          <a:prstGeom prst="roundRect">
            <a:avLst>
              <a:gd name="adj" fmla="val 9206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850" y="3924746"/>
            <a:ext cx="4491483" cy="5990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8FAFC"/>
                </a:solidFill>
                <a:latin typeface="Lato SemiBold"/>
              </a:rPr>
              <a:t>Payment Channel Preference:</a:t>
            </a:r>
            <a:r>
              <a:rPr b="0" sz="1050" i="0" u="none">
                <a:solidFill>
                  <a:srgbClr val="CBD5E1"/>
                </a:solidFill>
                <a:latin typeface="Lato"/>
              </a:rPr>
              <a:t> Credit/Debit card transactions lead total order count (~225+ orders), followed by Cash on Delivery (~148) and Digital Wallets (~89).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4628554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3810446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3810446"/>
            <a:ext cx="38100" cy="827633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0158" y="3810446"/>
            <a:ext cx="9525" cy="8276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1500" y="4733329"/>
            <a:ext cx="4758183" cy="827633"/>
          </a:xfrm>
          <a:prstGeom prst="roundRect">
            <a:avLst>
              <a:gd name="adj" fmla="val 9206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4847629"/>
            <a:ext cx="4491483" cy="5990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8FAFC"/>
                </a:solidFill>
                <a:latin typeface="Lato SemiBold"/>
              </a:rPr>
              <a:t>Experience Optimization:</a:t>
            </a:r>
            <a:r>
              <a:rPr b="0" sz="1050" i="0" u="none">
                <a:solidFill>
                  <a:srgbClr val="CBD5E1"/>
                </a:solidFill>
                <a:latin typeface="Lato"/>
              </a:rPr>
              <a:t> The sub-3.0 satisfaction index indicates that product quality, expectation matching, or packaging requires operational intervention.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5551437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" y="4733329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" y="4733329"/>
            <a:ext cx="38100" cy="827633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0158" y="4733329"/>
            <a:ext cx="9525" cy="8276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108" y="1509712"/>
            <a:ext cx="5928866" cy="455295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71500" y="3705671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500" y="4628554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" y="5551437"/>
            <a:ext cx="4758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" y="45720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oppins SemiBold"/>
              </a:rPr>
              <a:t>Customer Experience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5381625" cy="5229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171575"/>
            <a:ext cx="5381625" cy="5229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1485900"/>
            <a:ext cx="4990623" cy="314325"/>
          </a:xfrm>
          <a:prstGeom prst="rect">
            <a:avLst/>
          </a:prstGeom>
          <a:noFill/>
        </p:spPr>
        <p:txBody>
          <a:bodyPr wrap="square" lIns="33337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1952625"/>
            <a:ext cx="47529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CBD5E1"/>
                </a:solidFill>
                <a:latin typeface="Lato"/>
              </a:rPr>
              <a:t>Strong Financial Foundation: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Solid unit economics evidenced by $1.02K Average Order Value and steady multi-year run rates.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509837"/>
            <a:ext cx="47529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CBD5E1"/>
                </a:solidFill>
                <a:latin typeface="Lato"/>
              </a:rPr>
              <a:t>Category Dependency: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High concentration in Electronics exposes overall revenue to cyclical fluctuations and component pricing shifts.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067050"/>
            <a:ext cx="4752975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CBD5E1"/>
                </a:solidFill>
                <a:latin typeface="Lato"/>
              </a:rPr>
              <a:t>Satisfaction Disconnect: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The flat ~2.94 rating distribution across all fulfillment timeframes highlights product/service quality gaps rather than transit speed.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1485900"/>
            <a:ext cx="4990623" cy="314325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Strategic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1952625"/>
            <a:ext cx="4752975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CBD5E1"/>
                </a:solidFill>
                <a:latin typeface="Lato"/>
              </a:rPr>
              <a:t>Cross-Category Bundles: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Pair top-selling Electronics with emerging categories (Home, Accessories) to drive multi-item baskets and margin diversification.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2731293"/>
            <a:ext cx="47529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CBD5E1"/>
                </a:solidFill>
                <a:latin typeface="Lato"/>
              </a:rPr>
              <a:t>Root-Cause Quality Audits: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Implement automated post-delivery surveys to pinpoint why rapid deliveries (1-3 days) still receive 1-2 star ratings.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288506"/>
            <a:ext cx="47529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CBD5E1"/>
                </a:solidFill>
                <a:latin typeface="Lato"/>
              </a:rPr>
              <a:t>Digital Payment Adoption: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Incentivize Wallet and Card checkouts over COD with instant cashbacks to reduce logistics return overhead.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1533525"/>
            <a:ext cx="2381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1533525"/>
            <a:ext cx="16192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5720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oppins SemiBold"/>
              </a:rPr>
              <a:t>Key Takeaways &amp; Action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